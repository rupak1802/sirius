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65" r:id="rId2"/>
    <p:sldId id="256" r:id="rId3"/>
    <p:sldId id="257" r:id="rId4"/>
    <p:sldId id="266" r:id="rId5"/>
    <p:sldId id="258" r:id="rId6"/>
    <p:sldId id="260" r:id="rId7"/>
    <p:sldId id="263" r:id="rId8"/>
    <p:sldId id="264" r:id="rId9"/>
  </p:sldIdLst>
  <p:sldSz cx="12192000" cy="6858000"/>
  <p:notesSz cx="6858000" cy="12192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84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2EA21-A479-2107-817C-C95950C39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9D14A-92BE-1D76-B04A-38AD15775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16E19A-DB80-C462-308E-52E45C2D7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245B2-CE04-B611-9DA4-63241362A8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55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D852D-C529-98C9-5133-73060F137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5555DCD-27DF-5360-7086-F1AEB3E9F817}"/>
              </a:ext>
            </a:extLst>
          </p:cNvPr>
          <p:cNvSpPr/>
          <p:nvPr/>
        </p:nvSpPr>
        <p:spPr>
          <a:xfrm>
            <a:off x="585536" y="1322586"/>
            <a:ext cx="62968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9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Flint – Financial Intelligence</a:t>
            </a:r>
            <a:endParaRPr lang="en-US" sz="3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B3639BF-9B43-F15A-6B66-C34E8F90E884}"/>
              </a:ext>
            </a:extLst>
          </p:cNvPr>
          <p:cNvSpPr/>
          <p:nvPr/>
        </p:nvSpPr>
        <p:spPr>
          <a:xfrm>
            <a:off x="661475" y="1848644"/>
            <a:ext cx="62968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endParaRPr lang="en-US" sz="13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92A45F-421E-71F8-D87D-B6135C396C7C}"/>
              </a:ext>
            </a:extLst>
          </p:cNvPr>
          <p:cNvSpPr/>
          <p:nvPr/>
        </p:nvSpPr>
        <p:spPr>
          <a:xfrm>
            <a:off x="11069053" y="6529137"/>
            <a:ext cx="1122947" cy="328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1583A5-B22A-F3E8-A969-E2978212D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3" y="152755"/>
            <a:ext cx="4638742" cy="65524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E671358-91E5-191A-2C9A-BC5C0CEB5163}"/>
              </a:ext>
            </a:extLst>
          </p:cNvPr>
          <p:cNvSpPr txBox="1"/>
          <p:nvPr/>
        </p:nvSpPr>
        <p:spPr>
          <a:xfrm>
            <a:off x="585536" y="2612429"/>
            <a:ext cx="6296859" cy="2536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33CC"/>
                </a:solidFill>
                <a:latin typeface="Times New Roman"/>
                <a:cs typeface="Times New Roman"/>
              </a:rPr>
              <a:t>Focus Sector : </a:t>
            </a:r>
            <a:r>
              <a:rPr lang="en-US" dirty="0">
                <a:solidFill>
                  <a:srgbClr val="0033CC"/>
                </a:solidFill>
                <a:ea typeface="+mn-lt"/>
                <a:cs typeface="+mn-lt"/>
              </a:rPr>
              <a:t>FinTech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33CC"/>
                </a:solidFill>
                <a:latin typeface="Times New Roman"/>
                <a:cs typeface="Times New Roman"/>
              </a:rPr>
              <a:t>Team Name : </a:t>
            </a:r>
            <a:r>
              <a:rPr lang="en-US" dirty="0">
                <a:solidFill>
                  <a:srgbClr val="0033CC"/>
                </a:solidFill>
                <a:latin typeface="Times New Roman"/>
                <a:cs typeface="Times New Roman"/>
              </a:rPr>
              <a:t>Sirius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33CC"/>
                </a:solidFill>
                <a:latin typeface="Times New Roman"/>
                <a:cs typeface="Times New Roman"/>
              </a:rPr>
              <a:t>Team Members : </a:t>
            </a:r>
            <a:r>
              <a:rPr lang="en-US" dirty="0">
                <a:solidFill>
                  <a:srgbClr val="0033CC"/>
                </a:solidFill>
                <a:latin typeface="Times New Roman"/>
                <a:ea typeface="+mn-lt"/>
                <a:cs typeface="Times New Roman"/>
              </a:rPr>
              <a:t>Sarveshvar S, Rupak B, Prajit RH, Sanjeev G, Mukesh S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33CC"/>
                </a:solidFill>
                <a:latin typeface="Times New Roman"/>
                <a:cs typeface="Times New Roman"/>
              </a:rPr>
              <a:t>Institution Name : </a:t>
            </a:r>
            <a:r>
              <a:rPr lang="en-US" dirty="0">
                <a:solidFill>
                  <a:srgbClr val="0033CC"/>
                </a:solidFill>
                <a:latin typeface="Times New Roman"/>
                <a:cs typeface="Times New Roman"/>
              </a:rPr>
              <a:t>Sri Krishna College of Engineering and Technology</a:t>
            </a:r>
            <a:endParaRPr lang="en-IN" kern="0" spc="-25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6750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571698"/>
            <a:ext cx="62968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9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Problem: Financial Resilience for Gig &amp; Informal Workers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61475" y="1848644"/>
            <a:ext cx="62968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Income is unpredictable; expenses are fixed. A delivery partner can earn ₹5,000 one week and ₹3,000 the next, while rent, food, fuel, phone bills and loan repayments continue.   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781102"/>
            <a:ext cx="3073422" cy="1465957"/>
          </a:xfrm>
          <a:prstGeom prst="roundRect">
            <a:avLst>
              <a:gd name="adj" fmla="val 482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6095" y="2955727"/>
            <a:ext cx="272418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Tension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36095" y="3308648"/>
            <a:ext cx="272418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Irregular income vs. inflexible monthly obligations creates immediate cash‑flow risk.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84813" y="2781102"/>
            <a:ext cx="3073522" cy="1465957"/>
          </a:xfrm>
          <a:prstGeom prst="roundRect">
            <a:avLst>
              <a:gd name="adj" fmla="val 482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59434" y="2955727"/>
            <a:ext cx="272428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Common Behaviours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059434" y="3308648"/>
            <a:ext cx="272428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Over-save in good weeks, nothing in bad weeks, or borrow large sums for small shortfalls.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4396978"/>
            <a:ext cx="6296860" cy="1211362"/>
          </a:xfrm>
          <a:prstGeom prst="roundRect">
            <a:avLst>
              <a:gd name="adj" fmla="val 583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095" y="4571603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Traditional Banking Fails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36095" y="4924524"/>
            <a:ext cx="594761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assume predictable payroll, they don’t adapt to platform-driven earnings or mixed cash/UPI flows.</a:t>
            </a:r>
            <a:endParaRPr lang="en-US" sz="13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588433-9B2E-AA90-0AFA-2F2FEEA13B1D}"/>
              </a:ext>
            </a:extLst>
          </p:cNvPr>
          <p:cNvSpPr/>
          <p:nvPr/>
        </p:nvSpPr>
        <p:spPr>
          <a:xfrm>
            <a:off x="11069053" y="6529137"/>
            <a:ext cx="1122947" cy="328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DF97981-906A-B47E-B5C3-71A804922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3" y="152755"/>
            <a:ext cx="4638742" cy="6552489"/>
          </a:xfrm>
          <a:prstGeom prst="rect">
            <a:avLst/>
          </a:prstGeom>
        </p:spPr>
      </p:pic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F4A91594-7061-E7BE-D381-B431429B8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263" y="0"/>
            <a:ext cx="485273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348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9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Flint - Your Financial Co‑Pilot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32805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Flint goes beyond balances. It answers five practical questions gig workers ask and turns insight into action with adaptive recommendations.   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19263"/>
            <a:ext cx="2616234" cy="23359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3898" y="1838821"/>
            <a:ext cx="191289" cy="239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3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39965" y="2357140"/>
            <a:ext cx="225925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am I doing?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39965" y="2686943"/>
            <a:ext cx="2259254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Financial Dashboard  unified view of income, expenses, safe-to-spend and upcoming bills.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2246" y="1719263"/>
            <a:ext cx="2616333" cy="23359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24768" y="1838821"/>
            <a:ext cx="191289" cy="239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3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590736" y="2357140"/>
            <a:ext cx="2259353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Where am I really earning?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3590736" y="2936081"/>
            <a:ext cx="2259353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Multi‑Platform Earnings Tracker + Real Profit Comparison after fuel &amp; work costs.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3116" y="1719263"/>
            <a:ext cx="2616234" cy="233590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75539" y="1838821"/>
            <a:ext cx="191289" cy="239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3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341606" y="2357140"/>
            <a:ext cx="2259254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should I do with my money?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341606" y="2936081"/>
            <a:ext cx="2259254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Financial Plan + Smart Savings that scale with income.</a:t>
            </a:r>
            <a:endParaRPr lang="en-US" sz="12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3887" y="1719263"/>
            <a:ext cx="2616333" cy="233590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126409" y="1838821"/>
            <a:ext cx="191289" cy="239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3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9092377" y="2357140"/>
            <a:ext cx="2259353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Will I face a problem soon?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9092377" y="2936081"/>
            <a:ext cx="2259353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Weather &amp; What‑If Simulator highlight near‑term shortfalls.</a:t>
            </a:r>
            <a:endParaRPr lang="en-US" sz="12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189710"/>
            <a:ext cx="10868745" cy="138132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00203" y="4309269"/>
            <a:ext cx="191289" cy="239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3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839965" y="4827588"/>
            <a:ext cx="1051176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much help do I need?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839965" y="5157391"/>
            <a:ext cx="10511765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Recommendation + Payout Gap Protection to avoid unnecessary borrowing.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61475" y="5722342"/>
            <a:ext cx="10868745" cy="570309"/>
          </a:xfrm>
          <a:prstGeom prst="roundRect">
            <a:avLst>
              <a:gd name="adj" fmla="val 11745"/>
            </a:avLst>
          </a:prstGeom>
          <a:solidFill>
            <a:srgbClr val="DADBF1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915" y="5915819"/>
            <a:ext cx="199325" cy="15944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79681" y="5896670"/>
            <a:ext cx="1080068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twist: Protect My Income - </a:t>
            </a:r>
            <a:r>
              <a:rPr lang="en-US" sz="1250" kern="0" spc="-25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prioritise</a:t>
            </a:r>
            <a:r>
              <a:rPr 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fuel, phone &amp; maintenance because they create tomorrow's earnings.</a:t>
            </a:r>
            <a:endParaRPr lang="en-US" sz="12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FDA0FE-03E2-86C0-E48F-C5219DBFB265}"/>
              </a:ext>
            </a:extLst>
          </p:cNvPr>
          <p:cNvSpPr/>
          <p:nvPr/>
        </p:nvSpPr>
        <p:spPr>
          <a:xfrm>
            <a:off x="11069053" y="6529137"/>
            <a:ext cx="1122947" cy="328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75021A-8027-0DE5-10F2-C54E6DFD5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35" y="0"/>
            <a:ext cx="10496939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94B2D1-D505-5221-AD74-88DABD68B049}"/>
              </a:ext>
            </a:extLst>
          </p:cNvPr>
          <p:cNvSpPr/>
          <p:nvPr/>
        </p:nvSpPr>
        <p:spPr>
          <a:xfrm>
            <a:off x="2687053" y="136358"/>
            <a:ext cx="4122821" cy="4411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611A97-7D1D-55DD-43BD-DDFE1A9AD9DF}"/>
              </a:ext>
            </a:extLst>
          </p:cNvPr>
          <p:cNvSpPr/>
          <p:nvPr/>
        </p:nvSpPr>
        <p:spPr>
          <a:xfrm>
            <a:off x="11069053" y="6529137"/>
            <a:ext cx="1122947" cy="328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544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3470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9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Platform : 11 Financial Resilience Use Cases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61877"/>
            <a:ext cx="1147833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Single product that moves workers from confusion to control across Understand, Plan &amp; Save, Predict &amp; Prepare, Protect &amp; Recover, and Personalize.   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36527"/>
            <a:ext cx="391309" cy="3913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4804" y="1736527"/>
            <a:ext cx="2042268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Financial Dashboard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14804" y="2303363"/>
            <a:ext cx="2042268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view of income, expenses, savings, upcoming bills and safe‑to‑spend money.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9092" y="1736527"/>
            <a:ext cx="391309" cy="3913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72421" y="1736527"/>
            <a:ext cx="2042367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Multi‑Platform Earnings Tracker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972421" y="2303363"/>
            <a:ext cx="2042367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Swiggy, Zomato, Uber, freelance, cash and UPI in one place.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6808" y="1736527"/>
            <a:ext cx="391309" cy="3913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30137" y="1736527"/>
            <a:ext cx="2042367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 Profit / Platform Comparison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730137" y="2303363"/>
            <a:ext cx="2042367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profit after fuel, maintenance and other work costs.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4524" y="1736527"/>
            <a:ext cx="391309" cy="3913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87853" y="1736527"/>
            <a:ext cx="204236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Weekly Financial Plan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9487853" y="2058789"/>
            <a:ext cx="2042367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divides income into essentials, work costs, savings, emergency reserve and flexible spending.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478213"/>
            <a:ext cx="391309" cy="39131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14804" y="3478213"/>
            <a:ext cx="2042268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Savings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1214804" y="3800475"/>
            <a:ext cx="2042268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Adjusts recommendations up in good weeks and down in poor weeks.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19092" y="3478213"/>
            <a:ext cx="391309" cy="39131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972421" y="3478213"/>
            <a:ext cx="2042367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Financial Weather / Risk Alert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3972421" y="4045049"/>
            <a:ext cx="2042367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Warns when expected income may not cover upcoming essentials.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76808" y="3478213"/>
            <a:ext cx="391309" cy="39131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730137" y="3478213"/>
            <a:ext cx="204236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What‑If Simulator</a:t>
            </a:r>
            <a:endParaRPr lang="en-US" sz="1500" dirty="0"/>
          </a:p>
        </p:txBody>
      </p:sp>
      <p:sp>
        <p:nvSpPr>
          <p:cNvPr id="24" name="Text 15"/>
          <p:cNvSpPr/>
          <p:nvPr/>
        </p:nvSpPr>
        <p:spPr>
          <a:xfrm>
            <a:off x="6730137" y="3800475"/>
            <a:ext cx="2042367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scenarios: 30% income drop, three days off, or a ₹2,000 repair.</a:t>
            </a:r>
            <a:endParaRPr lang="en-US" sz="12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34524" y="3478213"/>
            <a:ext cx="391309" cy="391319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9487853" y="3478213"/>
            <a:ext cx="204236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Protect My Income</a:t>
            </a:r>
            <a:endParaRPr lang="en-US" sz="1500" dirty="0"/>
          </a:p>
        </p:txBody>
      </p:sp>
      <p:sp>
        <p:nvSpPr>
          <p:cNvPr id="27" name="Text 17"/>
          <p:cNvSpPr/>
          <p:nvPr/>
        </p:nvSpPr>
        <p:spPr>
          <a:xfrm>
            <a:off x="9487853" y="3800475"/>
            <a:ext cx="2042367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 money for fuel, phone and vehicle maintenance to preserve earning ability.</a:t>
            </a:r>
            <a:endParaRPr lang="en-US" sz="12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991001"/>
            <a:ext cx="391309" cy="391319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214804" y="4991001"/>
            <a:ext cx="2042268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Emergency Money Recommendation</a:t>
            </a:r>
            <a:endParaRPr lang="en-US" sz="1500" dirty="0"/>
          </a:p>
        </p:txBody>
      </p:sp>
      <p:sp>
        <p:nvSpPr>
          <p:cNvPr id="30" name="Text 19"/>
          <p:cNvSpPr/>
          <p:nvPr/>
        </p:nvSpPr>
        <p:spPr>
          <a:xfrm>
            <a:off x="1214804" y="5557838"/>
            <a:ext cx="2042268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Calculates true gap before recommending borrowing.</a:t>
            </a:r>
            <a:endParaRPr lang="en-US" sz="12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9092" y="4991001"/>
            <a:ext cx="391309" cy="391319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972421" y="4991001"/>
            <a:ext cx="204236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Payout Gap Protection</a:t>
            </a:r>
            <a:endParaRPr lang="en-US" sz="1500" dirty="0"/>
          </a:p>
        </p:txBody>
      </p:sp>
      <p:sp>
        <p:nvSpPr>
          <p:cNvPr id="33" name="Text 21"/>
          <p:cNvSpPr/>
          <p:nvPr/>
        </p:nvSpPr>
        <p:spPr>
          <a:xfrm>
            <a:off x="3972421" y="5313263"/>
            <a:ext cx="204236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access when earnings are due but not yet paid out.</a:t>
            </a:r>
            <a:endParaRPr lang="en-US" sz="12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76808" y="4991001"/>
            <a:ext cx="391309" cy="391319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6730137" y="4991001"/>
            <a:ext cx="2042367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Personalized Financial Coach</a:t>
            </a:r>
            <a:endParaRPr lang="en-US" sz="1500" dirty="0"/>
          </a:p>
        </p:txBody>
      </p:sp>
      <p:sp>
        <p:nvSpPr>
          <p:cNvPr id="36" name="Text 23"/>
          <p:cNvSpPr/>
          <p:nvPr/>
        </p:nvSpPr>
        <p:spPr>
          <a:xfrm>
            <a:off x="6730137" y="5557838"/>
            <a:ext cx="2042367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Turns data into simple, actionable guidance the user can follow today.</a:t>
            </a:r>
            <a:endParaRPr lang="en-US" sz="12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DF117B1-7077-7075-11D9-9B6541D6A42E}"/>
              </a:ext>
            </a:extLst>
          </p:cNvPr>
          <p:cNvSpPr/>
          <p:nvPr/>
        </p:nvSpPr>
        <p:spPr>
          <a:xfrm>
            <a:off x="11069053" y="6529137"/>
            <a:ext cx="1122947" cy="328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92646"/>
            <a:ext cx="6296860" cy="1070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kern="0" spc="-10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Feasibility Analysis : Why Flint Can Work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5233360" y="2151162"/>
            <a:ext cx="29394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Feasibility : HIGH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233360" y="2573933"/>
            <a:ext cx="2939480" cy="1828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Buildable with standard components: React, </a:t>
            </a:r>
            <a:r>
              <a:rPr lang="en-US" sz="1300" kern="0" spc="-27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SpringBoot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PostgreSQL, AI recommendation layer and visual dashboards. 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233360" y="3800000"/>
            <a:ext cx="29394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Feasibility : HIGH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233360" y="4188342"/>
            <a:ext cx="2939480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Interface framed around user questions: “How much can I spend?”, “Will I have enough for rent?”, “Which platform is most profitable?”       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97090" y="2151162"/>
            <a:ext cx="29394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Feasibility : HIGH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597090" y="2573933"/>
            <a:ext cx="2939480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Start as planning tool; monetise via partnerships: banks, NBFCs, gig platforms, insurers and premium services.       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97090" y="3774083"/>
            <a:ext cx="29394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 : HIGH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597090" y="4196854"/>
            <a:ext cx="2939480" cy="1306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Phased rollout: Delivery riders → Drivers &amp; freelancers → Daily‑wage workers &amp; small merchants → Broader informal workforce → Global expansion.</a:t>
            </a:r>
            <a:endParaRPr lang="en-US" sz="13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DDEFC2-0926-E831-085F-3AE7272A9F3D}"/>
              </a:ext>
            </a:extLst>
          </p:cNvPr>
          <p:cNvSpPr/>
          <p:nvPr/>
        </p:nvSpPr>
        <p:spPr>
          <a:xfrm>
            <a:off x="11069053" y="6529137"/>
            <a:ext cx="1122947" cy="328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57213"/>
            <a:ext cx="62968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9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 Opportunity &amp; Scalability (India)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233360" y="1984077"/>
            <a:ext cx="294305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Customers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233360" y="2397026"/>
            <a:ext cx="2943052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Primary: 18–45 year-old gig &amp; informal workers, delivery partners, drivers, freelancers. Secondary: small merchants, daily‑wage workers.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233360" y="3565327"/>
            <a:ext cx="294305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 Size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233360" y="3978275"/>
            <a:ext cx="2943052" cy="1272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~12M current gig workers (FY2024–25). Projected 23.5M by 2029–30 (NITI Aayog). Large addressable population facing income volatility and credit access challenges.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93518" y="1984077"/>
            <a:ext cx="294305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Go‑to‑Market Phases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593518" y="2397026"/>
            <a:ext cx="2943052" cy="2193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Font typeface="+mj-lt"/>
              <a:buAutoNum type="arabicPeriod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Delivery &amp; mobility workers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Font typeface="+mj-lt"/>
              <a:buAutoNum type="arabicPeriod" startAt="2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 Freelancers, logistics, service workers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Font typeface="+mj-lt"/>
              <a:buAutoNum type="arabicPeriod" startAt="3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3: Broader informal / self‑employed workers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Font typeface="+mj-lt"/>
              <a:buAutoNum type="arabicPeriod" startAt="4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4: Global irregular‑income workforce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93518" y="4759623"/>
            <a:ext cx="2943052" cy="1372394"/>
          </a:xfrm>
          <a:prstGeom prst="roundRect">
            <a:avLst>
              <a:gd name="adj" fmla="val 5152"/>
            </a:avLst>
          </a:prstGeom>
          <a:solidFill>
            <a:srgbClr val="DADBF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1789" y="4994870"/>
            <a:ext cx="210338" cy="1682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0398" y="4936629"/>
            <a:ext cx="2227901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B2C launch with later B2B2C partnerships (banks, NBFCs, gig platforms, insurers) for scale and monetization.</a:t>
            </a:r>
            <a:endParaRPr lang="en-US" sz="13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A60D1F-5484-DE4B-BCC5-5D1DB021323C}"/>
              </a:ext>
            </a:extLst>
          </p:cNvPr>
          <p:cNvSpPr/>
          <p:nvPr/>
        </p:nvSpPr>
        <p:spPr>
          <a:xfrm>
            <a:off x="11069053" y="6529137"/>
            <a:ext cx="1122947" cy="328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280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8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&amp; Benefits — What Flint Changes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35075"/>
            <a:ext cx="361743" cy="36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735237"/>
            <a:ext cx="53651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Intelligent Savings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61475" y="2027734"/>
            <a:ext cx="536512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according to what a worker can actually afford — adaptive, not fixed.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5001" y="1235075"/>
            <a:ext cx="361743" cy="361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65001" y="1735237"/>
            <a:ext cx="536521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Financial Resilience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165001" y="2027734"/>
            <a:ext cx="5365219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for a bad week before it becomes an emergency.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453680"/>
            <a:ext cx="361743" cy="3617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2953841"/>
            <a:ext cx="53651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Better Income Decisions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61475" y="3246338"/>
            <a:ext cx="536512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real profit across platforms after accounting for work costs.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5001" y="2453680"/>
            <a:ext cx="361743" cy="3617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65001" y="2953841"/>
            <a:ext cx="536521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Responsible Credit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6165001" y="3246338"/>
            <a:ext cx="5365219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 only the amount truly needed — reduces long‑term debt risk.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672284"/>
            <a:ext cx="361743" cy="3617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4172446"/>
            <a:ext cx="53651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Reduced Cash‑Flow Stress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661475" y="4464943"/>
            <a:ext cx="5365120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Payout‑gap protection bridges the waiting period between earning and receiving money.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5001" y="3672284"/>
            <a:ext cx="361743" cy="36175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65001" y="4172446"/>
            <a:ext cx="536521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Protects Earning Ability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6165001" y="4464943"/>
            <a:ext cx="5365219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Prioritises fuel, phone and maintenance so users can keep working.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095280"/>
            <a:ext cx="361743" cy="36175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61475" y="5595441"/>
            <a:ext cx="53651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Personalized Guidance</a:t>
            </a:r>
            <a:endParaRPr lang="en-US" sz="1400" dirty="0"/>
          </a:p>
        </p:txBody>
      </p:sp>
      <p:sp>
        <p:nvSpPr>
          <p:cNvPr id="23" name="Text 14"/>
          <p:cNvSpPr/>
          <p:nvPr/>
        </p:nvSpPr>
        <p:spPr>
          <a:xfrm>
            <a:off x="661475" y="5887938"/>
            <a:ext cx="536512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Clear, actionable steps — not technical financial reports.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65001" y="5095280"/>
            <a:ext cx="361743" cy="36175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165001" y="5595441"/>
            <a:ext cx="536521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Long‑Term Stability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6165001" y="5887938"/>
            <a:ext cx="536521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Small, repeatable choices: emergency savings → better habits → less expensive credit → resilience.</a:t>
            </a:r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89D49C-E79D-5838-A932-C1F2BBD4891F}"/>
              </a:ext>
            </a:extLst>
          </p:cNvPr>
          <p:cNvSpPr/>
          <p:nvPr/>
        </p:nvSpPr>
        <p:spPr>
          <a:xfrm>
            <a:off x="11069053" y="6529137"/>
            <a:ext cx="1122947" cy="3288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904</Words>
  <Application>Microsoft Office PowerPoint</Application>
  <PresentationFormat>Widescreen</PresentationFormat>
  <Paragraphs>99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Times New Roman</vt:lpstr>
      <vt:lpstr>Arial</vt:lpstr>
      <vt:lpstr>Inter Bold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Sarveshvar S</dc:creator>
  <cp:lastModifiedBy>Sarveshvar S</cp:lastModifiedBy>
  <cp:revision>9</cp:revision>
  <dcterms:created xsi:type="dcterms:W3CDTF">2026-09-03T16:51:15Z</dcterms:created>
  <dcterms:modified xsi:type="dcterms:W3CDTF">2026-09-03T18:39:57Z</dcterms:modified>
</cp:coreProperties>
</file>