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 days of resilience,</a:t>
            </a:r>
            <a:endParaRPr lang="en-US" sz="4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</a:t>
            </a:r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₹7,200</a:t>
            </a:r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CFE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balance.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resilience engine for gig workers — built to protect, optimize, grow, and plan around income that never looks the same two days in a row.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440680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0B3D5C"/>
          </a:solidFill>
          <a:ln w="12700">
            <a:solidFill>
              <a:srgbClr val="2450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4406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shift: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scoring &amp; forecasting to adaptive, inclusive orchestration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Gig income breaks the tools built for salaries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9776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088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6324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is volatile by design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794760"/>
            <a:ext cx="2980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earnings swing 40-60% week to week across platforms, shifts, and seasons — there is no steady paycheck to plan around.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566160" cy="39776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94560"/>
            <a:ext cx="685800" cy="6858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1088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6324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Banks still score like it's salaried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94760"/>
            <a:ext cx="2980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and savings products assume monthly, predictable income, so gig workers are treated as high-risk even when they're earning well over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66160" cy="39776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219456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1088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306324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financial literacy compounds the risk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794760"/>
            <a:ext cx="29809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Ratios, coverage percentages, and dashboards assume a reading level and financial vocabulary a huge share of gig workers don't have access to.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ANCHOR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state machine, always watching your buffer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847088" cy="1417320"/>
          </a:xfrm>
          <a:prstGeom prst="roundRect">
            <a:avLst>
              <a:gd name="adj" fmla="val 6452"/>
            </a:avLst>
          </a:prstGeom>
          <a:solidFill>
            <a:srgbClr val="2E9E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505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83464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buffer.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time to save.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670048" y="274320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2948" y="2286000"/>
            <a:ext cx="1847088" cy="1417320"/>
          </a:xfrm>
          <a:prstGeom prst="roundRect">
            <a:avLst>
              <a:gd name="adj" fmla="val 6452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2948" y="24505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22676" y="283464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dip.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get ring-fenced.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860036" y="274320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02936" y="2286000"/>
            <a:ext cx="1847088" cy="1417320"/>
          </a:xfrm>
          <a:prstGeom prst="roundRect">
            <a:avLst>
              <a:gd name="adj" fmla="val 6452"/>
            </a:avLst>
          </a:prstGeom>
          <a:solidFill>
            <a:srgbClr val="E074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02936" y="24505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12664" y="283464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thin.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rent + fuel protected.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50024" y="274320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92924" y="2286000"/>
            <a:ext cx="1847088" cy="1417320"/>
          </a:xfrm>
          <a:prstGeom prst="roundRect">
            <a:avLst>
              <a:gd name="adj" fmla="val 6452"/>
            </a:avLst>
          </a:prstGeom>
          <a:solidFill>
            <a:srgbClr val="D64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92924" y="24505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02652" y="283464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Must-pay bills only.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40012" y="274320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D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82912" y="2286000"/>
            <a:ext cx="1847088" cy="1417320"/>
          </a:xfrm>
          <a:prstGeom prst="roundRect">
            <a:avLst>
              <a:gd name="adj" fmla="val 6452"/>
            </a:avLst>
          </a:prstGeom>
          <a:solidFill>
            <a:srgbClr val="3B8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82912" y="24505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83464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rebuilding.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toward normal.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restabilizes the buffer, and the loop continues — ANCHOR re-evaluates the state every time income or spend changes.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218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is measured in days of runway, not a static balance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53218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re-computed on every transaction, not a monthly snapshot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Essentials-first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53218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and fuel are protected before any other action fires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 the buffer in real time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earnings down live on stage — watch ANCHOR move STABLE → FRAGILE → SHOCK and re-lock protected funds automatically, with no manual budgeting.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8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992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bad-earnings day on the demo dashboard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75888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8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6576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flips from STABLE to FRAGILE within one recompute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8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315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+ fuel funds are locked; discretionary spend is paused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99262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8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97433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message and voice narration explain why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1371600"/>
            <a:ext cx="5120640" cy="49377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874520"/>
            <a:ext cx="1097280" cy="1097280"/>
          </a:xfrm>
          <a:prstGeom prst="ellipse">
            <a:avLst/>
          </a:prstGeom>
          <a:solidFill>
            <a:srgbClr val="E074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0" y="1874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</a:t>
            </a:r>
            <a:endParaRPr lang="en-US" sz="336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2004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is tight this week.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749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locked ₹1,450 for rent and fuel.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0" y="4754880"/>
            <a:ext cx="2560320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Listen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5760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STATE • 4.2 days runway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OPPORTUNITY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doesn't just react to money, it reacts to opportunity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compares live hourly rates across the platforms a worker already uses, and only suggests a switch when the gap is large enough to matter.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FBEAE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0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₹128/hr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30% below average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651760"/>
            <a:ext cx="2377440" cy="2194560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337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₹187/hr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069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better right now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0B3D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074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Rapido for your next shift — stay on track for your ₹5,000 goal, worth an estimated extra ₹236 today.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suggestion is triggered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377440"/>
            <a:ext cx="51206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3C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20840" y="237744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earnings on a platform fall below 70% of that platform's own recent average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493008"/>
            <a:ext cx="51206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3C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720840" y="3493008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connected platform is currently paying at least 20% more per hour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608576"/>
            <a:ext cx="51206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3C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20840" y="4608576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large enough to meaningfully close the shortfall on an active savings goal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GROWTH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without risk: surplus only, never essentials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only ever draws from spare money left after rent, fuel, and savings goals are covered — and it pauses automatically the moment the buffer weakens.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83280" cy="3977640"/>
          </a:xfrm>
          <a:prstGeom prst="roundRect">
            <a:avLst>
              <a:gd name="adj" fmla="val 3784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₹35/day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Digital Gold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463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“Today you have ₹117 spare after essentials. Investing ₹35 keeps you growing without risk.”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chosen by resilience strength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834640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3118104"/>
            <a:ext cx="182880" cy="182880"/>
          </a:xfrm>
          <a:prstGeom prst="ellipse">
            <a:avLst/>
          </a:prstGeom>
          <a:solidFill>
            <a:srgbClr val="E074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4608" y="290779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/ SHOCK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9077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invested — essentials protected first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730752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4014216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4608" y="38039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(short horizon)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80390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Gold — most liquid, easiest to understand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4626864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53712" y="4910328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4608" y="47000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(buffer &gt; 14 days)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70001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Mutual Fund — modest step 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5522976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5806440"/>
            <a:ext cx="182880" cy="18288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64608" y="559612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(buffer &gt; 14 days, sustained)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559612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— longer horizon, compounding growth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64648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Cap: 30% of surplus, hard-limited to ₹100/day — and ₹0 on any net-negative earning day.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PLANNING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before the shock happens, not after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asks a simple question in plain language — ANCHOR answers with a number and a recovery plan, before the bad week actually arrives.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120640" cy="82296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if I don't work for 5 days?”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1246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income loss calculated instantly from baseline daily earnings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30682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delay projected against current savings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9011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recovery plan generated — not just a warning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303520" cy="4937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635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result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₹960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income loss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103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days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delay projected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39319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32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86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~7 extra hours over the next week to fully recover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75120" y="45902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75120" y="4590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32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4544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switch to a higher-paying platform for 5 days after returning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75120" y="524865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0" y="5248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32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52029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discretionary spending by ₹384 to offset the gap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BUILT FOR EVERYONE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tools shouldn't require literacy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709160"/>
          </a:xfrm>
          <a:prstGeom prst="roundRect">
            <a:avLst>
              <a:gd name="adj" fmla="val 4444"/>
            </a:avLst>
          </a:prstGeom>
          <a:solidFill>
            <a:srgbClr val="082C42"/>
          </a:solidFill>
          <a:ln/>
          <a:effectLst>
            <a:outerShdw sx="100000" sy="100000" kx="0" ky="0" algn="bl" rotWithShape="0" blurRad="177800" dist="63500" dir="5400000">
              <a:srgbClr val="1A2B3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148840"/>
            <a:ext cx="1371600" cy="137160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2024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</a:t>
            </a:r>
            <a:endParaRPr lang="en-US" sz="3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Aap 12 dinon tak surakshit hain.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F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safe for 12 days. Good time to save extra.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417320" y="4937760"/>
            <a:ext cx="2377440" cy="594360"/>
          </a:xfrm>
          <a:prstGeom prst="roundRect">
            <a:avLst>
              <a:gd name="adj" fmla="val 49231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937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Sun-o / Listen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715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action. Thumb-sized. No nested menus.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65836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3C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03520" y="17099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Icon-first, text-second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0574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color + icon states (🟢🟡🟠🔴) so meaning never depends on reading ability alone.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770632"/>
            <a:ext cx="65836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3C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303520" y="28803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narration in-language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2278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has a Listen button that reads the state and top suggestion aloud in Hindi, Tamil, or the user's regional language.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941064"/>
            <a:ext cx="65836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3C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03520" y="405079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jargon on-screen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3982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“Coverage ratio” and “volatility” stay internal. Users see: “You can pay rent and fuel even if this week is bad.”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5111496"/>
            <a:ext cx="65836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B3C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303520" y="522122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Rupees and days, never ratios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5686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shown to the user is a ₹ amount or a day-count — never a percentage or abstract score.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category shift, not a feature 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97680"/>
          </a:xfrm>
          <a:prstGeom prst="roundRect">
            <a:avLst>
              <a:gd name="adj" fmla="val 359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score at a point in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3017520" cy="0"/>
          </a:xfrm>
          <a:prstGeom prst="line">
            <a:avLst/>
          </a:prstGeom>
          <a:noFill/>
          <a:ln w="12700">
            <a:solidFill>
              <a:srgbClr val="2450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orchestration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state that acts on its own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70832" y="1828800"/>
            <a:ext cx="3566160" cy="4297680"/>
          </a:xfrm>
          <a:prstGeom prst="roundRect">
            <a:avLst>
              <a:gd name="adj" fmla="val 3590"/>
            </a:avLst>
          </a:prstGeom>
          <a:solidFill>
            <a:srgbClr val="0B3D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forecasting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what might happen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45152" y="3520440"/>
            <a:ext cx="3017520" cy="0"/>
          </a:xfrm>
          <a:prstGeom prst="line">
            <a:avLst/>
          </a:prstGeom>
          <a:noFill/>
          <a:ln w="12700">
            <a:solidFill>
              <a:srgbClr val="2450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5152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protection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4069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Locks essential funds before the shock hits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193024" y="1828800"/>
            <a:ext cx="3566160" cy="4297680"/>
          </a:xfrm>
          <a:prstGeom prst="roundRect">
            <a:avLst>
              <a:gd name="adj" fmla="val 3590"/>
            </a:avLst>
          </a:prstGeom>
          <a:solidFill>
            <a:srgbClr val="0B3D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7344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dashboards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literacy and financial vocabulary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67344" y="3520440"/>
            <a:ext cx="3017520" cy="0"/>
          </a:xfrm>
          <a:prstGeom prst="line">
            <a:avLst/>
          </a:prstGeom>
          <a:noFill/>
          <a:ln w="12700">
            <a:solidFill>
              <a:srgbClr val="2450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67344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inclusion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67344" y="4069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Icon-first, voice-narrated, jargon-free by design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build with more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1284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7180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bank rails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1188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actual UPI and bank-account data instead of simulated transaction feeds, with proper consent flows.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12848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82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language expansion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1188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voice narration and plain-language templates beyond Hindi to Tamil, Telugu, Marathi, Bengali, and more.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93024" y="192024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221284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5632" y="2212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97180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6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API integrations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61188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D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hourly-rate feeds from gig platforms directly, so goal switching runs on real-time data, not estimates.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B3D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→ optimize → grow → plan — one resilience engine for income that never looks the same two days in a row.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2026-09-03T14:12:30Z</dcterms:created>
  <dcterms:modified xsi:type="dcterms:W3CDTF">2026-09-03T14:12:30Z</dcterms:modified>
</cp:coreProperties>
</file>